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0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43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"Enterprise-ifying" a Java Core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743200"/>
            <a:ext cx="7616952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07792"/>
            <a:ext cx="10543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Calibri"/>
              </a:rPr>
              <a:t>The 4-Stage Evolution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93008"/>
            <a:ext cx="10543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D6E0"/>
                </a:solidFill>
                <a:latin typeface="Calibri"/>
              </a:rPr>
              <a:t>Legacy Monolith  →  Clean Layers  →  Spring Boot  →  Production DevOps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160520"/>
            <a:ext cx="2103120" cy="40233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1788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🔴 Monolith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4160520"/>
            <a:ext cx="2103120" cy="40233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41788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🟡 Clean Layers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160520"/>
            <a:ext cx="2103120" cy="40233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788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🟢 Spring Boot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4160520"/>
            <a:ext cx="2103120" cy="40233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41788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🔵 DevOps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093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SCTP Software Engineering Masterclass  |  BELLS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309360"/>
            <a:ext cx="5239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Calibri"/>
              </a:rPr>
              <a:t>Java 21  ·  Spring Boot 3  ·  Docker  ·  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The 4-Stage Evolution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0392"/>
            <a:ext cx="11091672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335024"/>
            <a:ext cx="2743200" cy="4315968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1335024"/>
            <a:ext cx="2743200" cy="14630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5361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4C3C"/>
                </a:solidFill>
                <a:latin typeface="Calibri"/>
              </a:rPr>
              <a:t>🔴 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568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The Legacy Monolith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87168"/>
            <a:ext cx="219456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578608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CCD6E0"/>
                </a:solidFill>
                <a:latin typeface="Calibri"/>
              </a:rPr>
              <a:t>Pain: Tightly Coupled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CD6E0"/>
                </a:solidFill>
                <a:latin typeface="Calibri"/>
              </a:rPr>
              <a:t>&amp; Untestable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3824" y="2468880"/>
            <a:ext cx="128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335024"/>
            <a:ext cx="2743200" cy="4315968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2" y="1335024"/>
            <a:ext cx="2743200" cy="14630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5361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39C12"/>
                </a:solidFill>
                <a:latin typeface="Calibri"/>
              </a:rPr>
              <a:t>🟡 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19568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Clean Layered Java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2487168"/>
            <a:ext cx="2194560" cy="274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578608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CCD6E0"/>
                </a:solidFill>
                <a:latin typeface="Calibri"/>
              </a:rPr>
              <a:t>Pain: Manual Wiring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CD6E0"/>
                </a:solidFill>
                <a:latin typeface="Calibri"/>
              </a:rPr>
              <a:t>Doesn't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2468880"/>
            <a:ext cx="128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335024"/>
            <a:ext cx="2743200" cy="4315968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335024"/>
            <a:ext cx="2743200" cy="1463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15361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🟢 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19568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The Spring Boot Edge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7376" y="2487168"/>
            <a:ext cx="2194560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2578608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CCD6E0"/>
                </a:solidFill>
                <a:latin typeface="Calibri"/>
              </a:rPr>
              <a:t>Pain: Works on My Machine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CD6E0"/>
                </a:solidFill>
                <a:latin typeface="Calibri"/>
              </a:rPr>
              <a:t>&amp; Manual 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2468880"/>
            <a:ext cx="128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335024"/>
            <a:ext cx="2743200" cy="4315968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1335024"/>
            <a:ext cx="2743200" cy="14630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5361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980B9"/>
                </a:solidFill>
                <a:latin typeface="Calibri"/>
              </a:rPr>
              <a:t>🔵 Stage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9568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Production DevOps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2487168"/>
            <a:ext cx="219456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578608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CCD6E0"/>
                </a:solidFill>
                <a:latin typeface="Calibri"/>
              </a:rPr>
              <a:t>Result: Continuous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CD6E0"/>
                </a:solidFill>
                <a:latin typeface="Calibri"/>
              </a:rPr>
              <a:t>Delivery Ready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5797296"/>
            <a:ext cx="11420856" cy="804672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8704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Concern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587044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Calibri"/>
              </a:rPr>
              <a:t>Stage 1: Monolith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87044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  <a:latin typeface="Calibri"/>
              </a:rPr>
              <a:t>Stage 2: Layered Java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87044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Stage 3: Spring Boot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5870448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80B9"/>
                </a:solidFill>
                <a:latin typeface="Calibri"/>
              </a:rPr>
              <a:t>Stage 4: DevOps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Stage 1 — The Legacy Monolith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0392"/>
            <a:ext cx="11091672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2354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  <a:latin typeface="Calibri"/>
              </a:rPr>
              <a:t>The 'Student Script' — everything smashed into a single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4592"/>
            <a:ext cx="2404872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182880"/>
            <a:ext cx="2368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1  ·  Legacy Monolith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5577840" cy="5175504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Architecture: ProductApp.java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65376"/>
            <a:ext cx="5468112" cy="2834640"/>
          </a:xfrm>
          <a:prstGeom prst="rect">
            <a:avLst/>
          </a:prstGeom>
          <a:solidFill>
            <a:srgbClr val="0D1B2E"/>
          </a:solidFill>
        </p:spPr>
        <p:txBody>
          <a:bodyPr wrap="none" lIns="127000" rIns="127000" tIns="88900" bIns="8890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E74C3C"/>
                </a:solidFill>
                <a:latin typeface="Courier New"/>
              </a:rPr>
              <a:t>+--------------------------------------------+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74C3C"/>
                </a:solidFill>
                <a:latin typeface="Courier New"/>
              </a:rPr>
              <a:t>|          ProductApp (Monolith)          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74C3C"/>
                </a:solidFill>
                <a:latin typeface="Courier New"/>
              </a:rPr>
              <a:t>|  - main(String[] args)                  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74C3C"/>
                </a:solidFill>
                <a:latin typeface="Courier New"/>
              </a:rPr>
              <a:t>|                                         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74C3C"/>
                </a:solidFill>
                <a:latin typeface="Courier New"/>
              </a:rPr>
              <a:t>|  [ Presentation ] &lt;-&gt; Scanner &amp; println 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74C3C"/>
                </a:solidFill>
                <a:latin typeface="Courier New"/>
              </a:rPr>
              <a:t>|  [ Core Logic   ] &lt;-&gt; Validates &amp; checks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74C3C"/>
                </a:solidFill>
                <a:latin typeface="Courier New"/>
              </a:rPr>
              <a:t>|  [ Data Storage ] &lt;-&gt; static List&lt;String&gt;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74C3C"/>
                </a:solidFill>
                <a:latin typeface="Courier New"/>
              </a:rPr>
              <a:t>+--------------------------------------------+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73168"/>
            <a:ext cx="52120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CCD6E0"/>
                </a:solidFill>
                <a:latin typeface="Calibri"/>
              </a:rPr>
              <a:t>No layer boundaries.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CD6E0"/>
                </a:solidFill>
                <a:latin typeface="Calibri"/>
              </a:rPr>
              <a:t>No injection points.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CD6E0"/>
                </a:solidFill>
                <a:latin typeface="Calibri"/>
              </a:rPr>
              <a:t>One change breaks everything.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353312"/>
            <a:ext cx="5486400" cy="5175504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4264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Pain Points — Why It Breaks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865376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Shared Mutable State: static List&lt;String&gt; owned by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 no-one, open to corruption by anyone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Tangled Responsibilities: main() handles presentation,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 business logic, and storage simultaneously — 3 jobs, 1 method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Zero Seams: no boundaries = no test injection points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 Cannot test business rules without running the whole app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No Exception Hierarchy: errors as bare println strings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 No way to catch specific failures programmatically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Tight Coupling: every change risks breaking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 everything else — all concerns share the same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Stage 2 — Clean Layered Java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0392"/>
            <a:ext cx="11091672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2354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  <a:latin typeface="Calibri"/>
              </a:rPr>
              <a:t>Separation of Concerns — 4 classes, one clear job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4592"/>
            <a:ext cx="2404872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182880"/>
            <a:ext cx="2368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2  ·  Clean Layered Java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5852160" cy="5175504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Layered Architecture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65376"/>
            <a:ext cx="5742432" cy="4462272"/>
          </a:xfrm>
          <a:prstGeom prst="rect">
            <a:avLst/>
          </a:prstGeom>
          <a:solidFill>
            <a:srgbClr val="0D1B2E"/>
          </a:solidFill>
        </p:spPr>
        <p:txBody>
          <a:bodyPr wrap="none" lIns="127000" rIns="127000" tIns="88900" bIns="8890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+------------------------------------------+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|  Presentation Tier                    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|  com.bells.controller.ProductController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+------------------------------------------+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                    |  (Dependency Injection)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                    v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+------------------------------------------+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|  Business Logic Tier                  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|  com.bells.service.ProductService     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+------------------------------------------+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                    |  (Depends on Abstraction)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                    v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+------------------------------------------+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|  «interface» ProductStore             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+------------------------------------------+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                    ^  (Implements Contract)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+------------------------------------------+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|  InMemoryProductStore                 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39C12"/>
                </a:solidFill>
                <a:latin typeface="Courier New"/>
              </a:rPr>
              <a:t>+------------------------------------------+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9672" y="1353312"/>
            <a:ext cx="5212080" cy="5175504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42646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Architectural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1865376"/>
            <a:ext cx="484632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Contract (ProductStore interface)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Program to abstraction — service knows WHAT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operations exist, not HOW data is stored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Data Tier (InMemoryProductStore)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Encapsulates ArrayList; returns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Collections.unmodifiableList() — callers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cannot mutate storage from outside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Core Logic Tier (ProductService)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Trims whitespace, validates null/blank,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logs via SLF4J, throws BusinessRuleViolationException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Presentation Tier (ProductController)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Handles I/O only; catches domain exceptions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gracefully — thread never crashes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A4A"/>
                </a:solidFill>
                <a:latin typeface="Calibri"/>
              </a:rPr>
              <a:t>Stage 2 — The Testing Seam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0392"/>
            <a:ext cx="11091672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2354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  <a:latin typeface="Calibri"/>
              </a:rPr>
              <a:t>Constructor Injection creates the gap that lets mocks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50392"/>
            <a:ext cx="11091672" cy="411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164592"/>
            <a:ext cx="2404872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19488" y="182880"/>
            <a:ext cx="2368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2  ·  JUnit 5 + Mockito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Why Tests Are Now Possible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Constructor Injection: dependencies passed explicitly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— the test controls what gets injected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@Mock ProductStore replaces the real implementation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with a fast, controllable placeholder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Fast Feedback Loop: tests execute in milliseconds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without any infrastructure running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Deterministic Assertions: verify a blank name triggers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the guard BEFORE the repository is ever touched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verifyNoInteractions(store) — proves the database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was never called; not just that an exception was thrown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533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The 5-Test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55648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successfulSave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  → save() called exactly once after clean input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blankName / nullName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  → verifyNoInteractions(store)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  → guard fires before any DB contact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duplicateName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  → verify(store, never()).save()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  → when exists() returns true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trimsWhitespace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  → "  Widget  " persists as "Widget"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  → data integrity, not cosmetics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Zero false positives — interface mock isolates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business logic from storage completely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Stage 3 — The Spring Boot 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0392"/>
            <a:ext cx="11091672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2354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  <a:latin typeface="Calibri"/>
              </a:rPr>
              <a:t>From manual object graphs to Inversion of Control (IoC)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4592"/>
            <a:ext cx="2404872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182880"/>
            <a:ext cx="2368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3  ·  Spring Boot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5394960" cy="5175504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Pain: Manual Wiring Doesn't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65376"/>
            <a:ext cx="5285232" cy="2340864"/>
          </a:xfrm>
          <a:prstGeom prst="rect">
            <a:avLst/>
          </a:prstGeom>
          <a:solidFill>
            <a:srgbClr val="0D1B2E"/>
          </a:solidFill>
        </p:spPr>
        <p:txBody>
          <a:bodyPr wrap="none" lIns="127000" rIns="127000" tIns="88900" bIns="8890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// Stage 2 Main.java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ProductStore store =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    new InMemoryProductStore();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ProductService service =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    new ProductService(store);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ProductController controller =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    new ProductController(service);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502920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Manageable at 4 classes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Impossible at 40 or 400 classes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Adding a dependency = editing Main.java every time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No lifecycle management — no shutdown hooks,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 no scope control, no startup order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Swapping an implementation means finding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 every 'new' call manually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353312"/>
            <a:ext cx="5486400" cy="5175504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4264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The Spring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865376"/>
            <a:ext cx="5376672" cy="2834640"/>
          </a:xfrm>
          <a:prstGeom prst="rect">
            <a:avLst/>
          </a:prstGeom>
          <a:solidFill>
            <a:srgbClr val="0D1B2E"/>
          </a:solidFill>
        </p:spPr>
        <p:txBody>
          <a:bodyPr wrap="none" lIns="127000" rIns="127000" tIns="88900" bIns="8890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27AE60"/>
                </a:solidFill>
                <a:latin typeface="Courier New"/>
              </a:rPr>
              <a:t>// Stage 3 — container does the wiring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7AE60"/>
                </a:solidFill>
                <a:latin typeface="Courier New"/>
              </a:rPr>
              <a:t>@Repository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7AE60"/>
                </a:solidFill>
                <a:latin typeface="Courier New"/>
              </a:rPr>
              <a:t>public class InMemoryProductStore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7AE60"/>
                </a:solidFill>
                <a:latin typeface="Courier New"/>
              </a:rPr>
              <a:t>    implements ProductStore { ...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7AE60"/>
                </a:solidFill>
                <a:latin typeface="Courier New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7AE60"/>
                </a:solidFill>
                <a:latin typeface="Courier New"/>
              </a:rPr>
              <a:t>@Service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7AE60"/>
                </a:solidFill>
                <a:latin typeface="Courier New"/>
              </a:rPr>
              <a:t>public class ProductService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7AE60"/>
                </a:solidFill>
                <a:latin typeface="Courier New"/>
              </a:rPr>
              <a:t>    public ProductService(ProductStore s)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7AE60"/>
                </a:solidFill>
                <a:latin typeface="Courier New"/>
              </a:rPr>
              <a:t>    { this.store = s; } // Spring injects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7AE60"/>
                </a:solidFill>
                <a:latin typeface="Courier New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7AE60"/>
                </a:solidFill>
                <a:latin typeface="Courier New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7AE60"/>
                </a:solidFill>
                <a:latin typeface="Courier New"/>
              </a:rPr>
              <a:t>@SpringBootApplication // scans + wires all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7AE60"/>
                </a:solidFill>
                <a:latin typeface="Courier New"/>
              </a:rPr>
              <a:t>public class ProductApplication { ...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4809744"/>
            <a:ext cx="512064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@Service / @Repository / @Component — Spring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 instantiates and wires the entire graph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Constructor injection still applies —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 same design principle, zero manual labour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Lifecycle management built in — shutdown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 hooks, scopes, startup order handled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Stage 3 — Architecture Proof: Two Paths, One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0392"/>
            <a:ext cx="11091672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2354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  <a:latin typeface="Calibri"/>
              </a:rPr>
              <a:t>Adding REST costs one pom.xml dependency and one new class — nothing else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4592"/>
            <a:ext cx="2404872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182880"/>
            <a:ext cx="2368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3  ·  Zero Core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11274552" cy="3017520"/>
          </a:xfrm>
          <a:prstGeom prst="rect">
            <a:avLst/>
          </a:prstGeom>
          <a:solidFill>
            <a:srgbClr val="0D1B2E"/>
          </a:solidFill>
        </p:spPr>
        <p:txBody>
          <a:bodyPr wrap="none" lIns="127000" rIns="127000" tIns="88900" bIns="8890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                  +---------------------------+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                  |    ProductController      |  ---&gt; Console UI Path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                  +---------------------------+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                             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+-------------------+           v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| Web Client / HTTP | --&gt; +---------------------------+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| Delivery Path     |     |  ProductApiController     |  ---&gt; @RestController Path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+-------------------+     +---------------------------+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                                     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                                        v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                          +---------------------------+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                          |      ProductService       |  ---&gt; Untouched Core Logic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                          +---------------------------+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98848"/>
            <a:ext cx="5394960" cy="2029968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What Changes (1 file + 1 dependency)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74336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pom.xml: add spring-boot-starter-web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New class: ProductApiController @RestController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@ControllerAdvice: BusinessRuleViolationException → HTTP 422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ProductRunner: keep for console or remove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6792" y="4498848"/>
            <a:ext cx="5394960" cy="2029968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4572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What Does NOT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4974336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ProductService — zero lines modified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ProductStore / InMemoryProductStore — untouched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BusinessRuleViolationException — untouched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All 5 unit tests — pass without modification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Stage 4 — Stop Committing to 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0392"/>
            <a:ext cx="11091672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2354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  <a:latin typeface="Calibri"/>
              </a:rPr>
              <a:t>Direct commits bypass every quality gate — the 3-step enterprise enforcement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4592"/>
            <a:ext cx="2404872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182880"/>
            <a:ext cx="2368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4  ·  Git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6464"/>
            <a:ext cx="3657600" cy="5102352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26464"/>
            <a:ext cx="3657600" cy="12801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80B9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Feature Branches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87168"/>
            <a:ext cx="329184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feature/add-product-validation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fix/duplicate-check-edge-case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Each branch = one unit of intent,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reviewable as a single diff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main is production — direct commits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skip code review and CI entirely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426464"/>
            <a:ext cx="3657600" cy="5102352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426464"/>
            <a:ext cx="3657600" cy="12801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62763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80B9"/>
                </a:solidFill>
                <a:latin typeface="Calibr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0116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Semantic Commits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53712" y="2487168"/>
            <a:ext cx="329184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596896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feat: add BusinessRuleViolationException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test: verify null triggers guard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refactor: extract dup-check to service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chore: configure Maven Shade manifest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type(scope): imperative present tense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Machine-readable · grep-able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Generates changelogs automatically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84464" y="1426464"/>
            <a:ext cx="3657600" cy="5102352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84464" y="1426464"/>
            <a:ext cx="3657600" cy="12801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344" y="162763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80B9"/>
                </a:solidFill>
                <a:latin typeface="Calibri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0116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Pull Request Gate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67344" y="2487168"/>
            <a:ext cx="329184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67344" y="2596896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Opens peer code review before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any code reaches main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Merge ONLY when: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✓ CI pipeline passes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✓ Reviewer approves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PR history = team's permanent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searchable audit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Stage 4 — Continuous Integration: GitHub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0392"/>
            <a:ext cx="11091672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2354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  <a:latin typeface="Calibri"/>
              </a:rPr>
              <a:t>Every Push and PR triggers an automated cloud quality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4592"/>
            <a:ext cx="2404872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182880"/>
            <a:ext cx="2368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4  · 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6309360" cy="5175504"/>
          </a:xfrm>
          <a:prstGeom prst="rect">
            <a:avLst/>
          </a:prstGeom>
          <a:solidFill>
            <a:srgbClr val="0D1B2E"/>
          </a:solidFill>
        </p:spPr>
        <p:txBody>
          <a:bodyPr wrap="none" lIns="127000" rIns="127000" tIns="88900" bIns="8890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# .github/workflows/ci.yml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name: CI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on: [push, pull_request]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jobs: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build: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  runs-on: ubuntu-latest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  steps: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    - uses: actions/checkout@v4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    - uses: actions/setup-java@v4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      with: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        java-version: '21'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        distribution: 'temurin'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    - name: Run tests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      run: mvn test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    - name: Package JAR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      run: mvn package -DskipTests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976872" y="1353312"/>
            <a:ext cx="4754880" cy="5175504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59752" y="142646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Calibri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1865376"/>
            <a:ext cx="438912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The Automator: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mvn test + mvn package run automatically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on every push — no manual trigger needed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Enforceable Quality Gates: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GitHub shows ✓ or ✗ on every PR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Correctness is automated, not a convention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Environment Parity: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ubuntu-latest mirrors cloud production,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not a developer's laptop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The Connection to the Git Workflow: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"Merge only when CI passes" is now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mechanically enforced — not just agreed upon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This single YAML file = professional repo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Stage 4 — Reproducible Packaging: Multi-Stage Dockerfile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0392"/>
            <a:ext cx="11091672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2354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  <a:latin typeface="Calibri"/>
              </a:rPr>
              <a:t>Replace host JDK dependency with a portable, secure container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4592"/>
            <a:ext cx="2404872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182880"/>
            <a:ext cx="2368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4  · 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5852160" cy="3255264"/>
          </a:xfrm>
          <a:prstGeom prst="rect">
            <a:avLst/>
          </a:prstGeom>
          <a:solidFill>
            <a:srgbClr val="0D1B2E"/>
          </a:solidFill>
        </p:spPr>
        <p:txBody>
          <a:bodyPr wrap="none" lIns="127000" rIns="127000" tIns="88900" bIns="8890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[ STAGE 1: BUILDER ]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FROM maven:3.9.8-eclipse-temurin-21-alpine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-&gt; Full JDK + Maven available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-&gt; Compiles source, bundles fat JAR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               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                  v  Only .jar crosses the stage boundary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               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[ STAGE 2: RUNTIME ]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FROM eclipse-temurin:21-jre-alpine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-&gt; JDK stripped — minimal JRE footprint (~80 MB)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-&gt; Non-root 'appuser' — secure container execution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980B9"/>
                </a:solidFill>
                <a:latin typeface="Courier New"/>
              </a:rPr>
              <a:t>  -&gt; No compiler, build tools, or source in final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18304"/>
            <a:ext cx="5852160" cy="1810512"/>
          </a:xfrm>
          <a:prstGeom prst="rect">
            <a:avLst/>
          </a:prstGeom>
          <a:solidFill>
            <a:srgbClr val="0D1B2E"/>
          </a:solidFill>
        </p:spPr>
        <p:txBody>
          <a:bodyPr wrap="none" lIns="127000" rIns="127000" tIns="88900" bIns="8890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FROM maven:3.9.8-eclipse-temurin-21-alpine AS builder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COPY pom.xml . &amp;&amp; RUN mvn dependency:go-offline -q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COPY src ./src  &amp;&amp; RUN mvn package -DskipTests -q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FROM eclipse-temurin:21-jre-alpine AS runtime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RUN addgroup -S appgroup &amp;&amp; adduser -S appuser -G appgroup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COPY --from=builder /build/target/*.jar app.jar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USER appuser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B4D8"/>
                </a:solidFill>
                <a:latin typeface="Courier New"/>
              </a:rPr>
              <a:t>ENTRYPOINT ["java", "-jar", "app.jar"]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9672" y="1353312"/>
            <a:ext cx="5212080" cy="2340864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42646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1828800"/>
            <a:ext cx="484632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java -jar depends on the host JRE version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Dev, CI, and prod diverge silently over time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Missing env vars, manual classpath setup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"Works on my machine" ≠ deployment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19672" y="3840480"/>
            <a:ext cx="5212080" cy="2688336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39136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Calibri"/>
              </a:rPr>
              <a:t>The Container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4315968"/>
            <a:ext cx="484632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COPY --from=builder: builder JDK never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 enters the runtime image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Security teams scan a clean, minimal surface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Identical behaviour on every machine with Docker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▸  Override config at runtime: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CD6E0"/>
                </a:solidFill>
                <a:latin typeface="Calibri"/>
              </a:rPr>
              <a:t>   docker run -e LOGGING_LEVEL_COM_BELLS=DEBUG 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A4A"/>
                </a:solidFill>
                <a:latin typeface="Calibri"/>
              </a:rPr>
              <a:t>The 4-Stage Skill Comparison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0392"/>
            <a:ext cx="11091672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2354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  <a:latin typeface="Calibri"/>
              </a:rPr>
              <a:t>Every row is a specific, high-value skill you can defend in an engineering interview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50392"/>
            <a:ext cx="11091672" cy="411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335024"/>
          <a:ext cx="1143000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286000"/>
                <a:gridCol w="2468880"/>
                <a:gridCol w="2468880"/>
                <a:gridCol w="2468880"/>
              </a:tblGrid>
              <a:tr h="1046073">
                <a:tc>
                  <a:txBody>
                    <a:bodyPr lIns="50800" t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Architectural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Concern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lIns="50800" tIns="38100"/>
                    <a:lstStyle/>
                    <a:p>
                      <a:pPr algn="ctr"/>
                      <a:r>
                        <a:rPr sz="1200" b="1">
                          <a:solidFill>
                            <a:srgbClr val="E74C3C"/>
                          </a:solidFill>
                          <a:latin typeface="Calibri"/>
                        </a:rPr>
                        <a:t>Stage 1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E74C3C"/>
                          </a:solidFill>
                          <a:latin typeface="Calibri"/>
                        </a:rPr>
                        <a:t>Legacy Monolith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lIns="50800" tIns="38100"/>
                    <a:lstStyle/>
                    <a:p>
                      <a:pPr algn="ctr"/>
                      <a:r>
                        <a:rPr sz="1200" b="1">
                          <a:solidFill>
                            <a:srgbClr val="F39C12"/>
                          </a:solidFill>
                          <a:latin typeface="Calibri"/>
                        </a:rPr>
                        <a:t>Stage 2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39C12"/>
                          </a:solidFill>
                          <a:latin typeface="Calibri"/>
                        </a:rPr>
                        <a:t>Clean Layered Java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lIns="50800" tIns="38100"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Stage 3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Spring Boot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lIns="50800" tIns="38100"/>
                    <a:lstStyle/>
                    <a:p>
                      <a:pPr algn="ctr"/>
                      <a:r>
                        <a:rPr sz="1200" b="1">
                          <a:solidFill>
                            <a:srgbClr val="2980B9"/>
                          </a:solidFill>
                          <a:latin typeface="Calibri"/>
                        </a:rPr>
                        <a:t>Stage 4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2980B9"/>
                          </a:solidFill>
                          <a:latin typeface="Calibri"/>
                        </a:rPr>
                        <a:t>DevOps Extension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1046073"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Dependency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Management</a:t>
                      </a:r>
                    </a:p>
                  </a:txBody>
                  <a:tcPr>
                    <a:solidFill>
                      <a:srgbClr val="EEF0F5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  <a:latin typeface="Calibri"/>
                        </a:rPr>
                        <a:t>None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  <a:latin typeface="Calibri"/>
                        </a:rPr>
                        <a:t>Static global state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F39C12"/>
                          </a:solidFill>
                          <a:latin typeface="Calibri"/>
                        </a:rPr>
                        <a:t>Manual constructor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F39C12"/>
                          </a:solidFill>
                          <a:latin typeface="Calibri"/>
                        </a:rPr>
                        <a:t>injection</a:t>
                      </a:r>
                    </a:p>
                  </a:txBody>
                  <a:tcPr>
                    <a:solidFill>
                      <a:srgbClr val="FFF8E8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  <a:latin typeface="Calibri"/>
                        </a:rPr>
                        <a:t>Automatic IoC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  <a:latin typeface="Calibri"/>
                        </a:rPr>
                        <a:t>container management</a:t>
                      </a:r>
                    </a:p>
                  </a:txBody>
                  <a:tcPr>
                    <a:solidFill>
                      <a:srgbClr val="EAF7EE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  <a:latin typeface="Calibri"/>
                        </a:rPr>
                        <a:t>Automatic IoC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  <a:latin typeface="Calibri"/>
                        </a:rPr>
                        <a:t>container management</a:t>
                      </a:r>
                    </a:p>
                  </a:txBody>
                  <a:tcPr>
                    <a:solidFill>
                      <a:srgbClr val="E8F4FB"/>
                    </a:solidFill>
                  </a:tcPr>
                </a:tc>
              </a:tr>
              <a:tr h="1046073"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Testing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>
                    <a:solidFill>
                      <a:srgbClr val="EEF0F5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  <a:latin typeface="Calibri"/>
                        </a:rPr>
                        <a:t>Untestable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  <a:latin typeface="Calibri"/>
                        </a:rPr>
                        <a:t>via automation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F39C12"/>
                          </a:solidFill>
                          <a:latin typeface="Calibri"/>
                        </a:rPr>
                        <a:t>JUnit 5 + Mockito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F39C12"/>
                          </a:solidFill>
                          <a:latin typeface="Calibri"/>
                        </a:rPr>
                        <a:t>boundaries (ms)</a:t>
                      </a:r>
                    </a:p>
                  </a:txBody>
                  <a:tcPr>
                    <a:solidFill>
                      <a:srgbClr val="FFF8E8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  <a:latin typeface="Calibri"/>
                        </a:rPr>
                        <a:t>Fast isolated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  <a:latin typeface="Calibri"/>
                        </a:rPr>
                        <a:t>unit tests</a:t>
                      </a:r>
                    </a:p>
                  </a:txBody>
                  <a:tcPr>
                    <a:solidFill>
                      <a:srgbClr val="EAF7EE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  <a:latin typeface="Calibri"/>
                        </a:rPr>
                        <a:t>Unit tests +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  <a:latin typeface="Calibri"/>
                        </a:rPr>
                        <a:t>MockMvc integration</a:t>
                      </a:r>
                    </a:p>
                  </a:txBody>
                  <a:tcPr>
                    <a:solidFill>
                      <a:srgbClr val="E8F4FB"/>
                    </a:solidFill>
                  </a:tcPr>
                </a:tc>
              </a:tr>
              <a:tr h="1046073"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Delivery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Interfaces</a:t>
                      </a:r>
                    </a:p>
                  </a:txBody>
                  <a:tcPr>
                    <a:solidFill>
                      <a:srgbClr val="EEF0F5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  <a:latin typeface="Calibri"/>
                        </a:rPr>
                        <a:t>Hardcoded inside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  <a:latin typeface="Calibri"/>
                        </a:rPr>
                        <a:t>console loop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F39C12"/>
                          </a:solidFill>
                          <a:latin typeface="Calibri"/>
                        </a:rPr>
                        <a:t>Clean console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F39C12"/>
                          </a:solidFill>
                          <a:latin typeface="Calibri"/>
                        </a:rPr>
                        <a:t>controller class</a:t>
                      </a:r>
                    </a:p>
                  </a:txBody>
                  <a:tcPr>
                    <a:solidFill>
                      <a:srgbClr val="FFF8E8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  <a:latin typeface="Calibri"/>
                        </a:rPr>
                        <a:t>Console or HTTP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  <a:latin typeface="Calibri"/>
                        </a:rPr>
                        <a:t>REST API endpoints</a:t>
                      </a:r>
                    </a:p>
                  </a:txBody>
                  <a:tcPr>
                    <a:solidFill>
                      <a:srgbClr val="EAF7EE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  <a:latin typeface="Calibri"/>
                        </a:rPr>
                        <a:t>REST + global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  <a:latin typeface="Calibri"/>
                        </a:rPr>
                        <a:t>exception handlers</a:t>
                      </a:r>
                    </a:p>
                  </a:txBody>
                  <a:tcPr>
                    <a:solidFill>
                      <a:srgbClr val="E8F4FB"/>
                    </a:solidFill>
                  </a:tcPr>
                </a:tc>
              </a:tr>
              <a:tr h="1046076"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Deployment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EEF0F5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  <a:latin typeface="Calibri"/>
                        </a:rPr>
                        <a:t>Host JDK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  <a:latin typeface="Calibri"/>
                        </a:rPr>
                        <a:t>installation required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F39C12"/>
                          </a:solidFill>
                          <a:latin typeface="Calibri"/>
                        </a:rPr>
                        <a:t>Local target/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F39C12"/>
                          </a:solidFill>
                          <a:latin typeface="Calibri"/>
                        </a:rPr>
                        <a:t>artifact packaging</a:t>
                      </a:r>
                    </a:p>
                  </a:txBody>
                  <a:tcPr>
                    <a:solidFill>
                      <a:srgbClr val="FFF8E8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  <a:latin typeface="Calibri"/>
                        </a:rPr>
                        <a:t>Containerised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  <a:latin typeface="Calibri"/>
                        </a:rPr>
                        <a:t>multi-stage JRE</a:t>
                      </a:r>
                    </a:p>
                  </a:txBody>
                  <a:tcPr>
                    <a:solidFill>
                      <a:srgbClr val="EAF7EE"/>
                    </a:solidFill>
                  </a:tcPr>
                </a:tc>
                <a:tc>
                  <a:txBody>
                    <a:bodyPr lIns="63500" tIns="50800"/>
                    <a:lstStyle/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  <a:latin typeface="Calibri"/>
                        </a:rPr>
                        <a:t>GitHub Actions CI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  <a:latin typeface="Calibri"/>
                        </a:rPr>
                        <a:t>+ secure cloud runtime</a:t>
                      </a:r>
                    </a:p>
                  </a:txBody>
                  <a:tcPr>
                    <a:solidFill>
                      <a:srgbClr val="E8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A4A"/>
                </a:solidFill>
                <a:latin typeface="Calibri"/>
              </a:rPr>
              <a:t>Interview Defense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0392"/>
            <a:ext cx="11091672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2354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  <a:latin typeface="Calibri"/>
              </a:rPr>
              <a:t>Translate your work into the language that engineering teams recognise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50392"/>
            <a:ext cx="11091672" cy="411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5394960" cy="5230368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081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4444"/>
                </a:solidFill>
                <a:latin typeface="Calibri"/>
              </a:rPr>
              <a:t>Student Phase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029200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"I split the code into layers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 to make it cleaner."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"I added tests so I know it works."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"I used Spring because it makes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 things easier."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"I used Docker so it runs everywhere."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2A4A"/>
                </a:solidFill>
                <a:latin typeface="Calibri"/>
              </a:rPr>
              <a:t>"I used GitHub Actions for CI."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1335024"/>
            <a:ext cx="5394960" cy="5230368"/>
          </a:xfrm>
          <a:prstGeom prst="rect">
            <a:avLst/>
          </a:prstGeom>
          <a:solidFill>
            <a:srgbClr val="E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4081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Industry-Ready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828800"/>
            <a:ext cx="5029200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"Each layer has one reason to change —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 the repository has no knowledge of business rules."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"ProductStore is an interface; tests mock it at the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 boundary — verifyNoInteractions(store) proves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 the guard fires before the database is touched."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"Spring eliminates manual object graphs. Adding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 starter-web costs zero changes to ProductService."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"Multi-stage build: builder JDK never enters the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 runtime image; non-root JRE satisfies cloud baselines."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"Every PR triggers mvn test on GitHub Actions —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  <a:latin typeface="Calibri"/>
              </a:rPr>
              <a:t> quality is enforced mechanically, not agreed upon."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0B4D8"/>
                </a:solidFill>
                <a:latin typeface="Calibri"/>
              </a:rPr>
              <a:t>The right-column answers demonstrate systems thinking. That is what engineering-led companies hire for.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