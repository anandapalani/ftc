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0"/>
            <a:ext cx="12188952" cy="502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430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"Enterprise-ifying" a Java Core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33472"/>
            <a:ext cx="761695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779776"/>
            <a:ext cx="10543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The 5-Stage Evolution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46704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D6E0"/>
                </a:solidFill>
                <a:latin typeface="Calibri"/>
              </a:rPr>
              <a:t>Monolith  →  Clean Layers  →  Spring Boot  →  Cloud-Native  →  DevOps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2011680" cy="694944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059936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Stage 1
Monolith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4023360"/>
            <a:ext cx="2011680" cy="694944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059936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Stage 2
Clean Java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4023360"/>
            <a:ext cx="2011680" cy="694944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4059936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Stage 3
Spring Boot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199" y="4023360"/>
            <a:ext cx="2011680" cy="694944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199" y="4059936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Stage 4
Cloud-Native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4023360"/>
            <a:ext cx="2011680" cy="694944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4059936"/>
            <a:ext cx="20116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Stage 5
DevOps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093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SCTP Software Engineering Masterclass  |  BELLS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6309360"/>
            <a:ext cx="6519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CCD6E0"/>
                </a:solidFill>
                <a:latin typeface="Calibri"/>
              </a:rPr>
              <a:t>Java 21  ·  Spring Boot 3  ·  Liquibase  ·  Docker  ·  Kubernetes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The 5-Stage Evolution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35024"/>
            <a:ext cx="2176272" cy="4754880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35024"/>
            <a:ext cx="2176272" cy="14630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7276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74C3C"/>
                </a:solidFill>
                <a:latin typeface="Calibri"/>
              </a:rPr>
              <a:t>Stage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938528"/>
            <a:ext cx="21762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Legacy Monolith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505456"/>
            <a:ext cx="1737360" cy="274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615184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Pain: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Tightly Coupled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&amp; Untestable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7168" y="2487168"/>
            <a:ext cx="137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39" y="1335024"/>
            <a:ext cx="2176272" cy="4754880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39" y="1335024"/>
            <a:ext cx="2176272" cy="14630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39" y="157276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39C12"/>
                </a:solidFill>
                <a:latin typeface="Calibri"/>
              </a:rPr>
              <a:t>Stage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39" y="1938528"/>
            <a:ext cx="21762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Clean Layered Java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39" y="2505456"/>
            <a:ext cx="1737360" cy="27432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199" y="2615184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Pain: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Manual Wiring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Doesn't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18887" y="2487168"/>
            <a:ext cx="137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59" y="1335024"/>
            <a:ext cx="2176272" cy="4754880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37759" y="1335024"/>
            <a:ext cx="2176272" cy="14630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157276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7AE6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59" y="1938528"/>
            <a:ext cx="21762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Spring Boot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66359" y="2505456"/>
            <a:ext cx="1737360" cy="274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19" y="2615184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Pain: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Works on My Machine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&amp; Manual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7" y="2487168"/>
            <a:ext cx="137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79" y="1335024"/>
            <a:ext cx="2176272" cy="4754880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69479" y="1335024"/>
            <a:ext cx="2176272" cy="14630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79" y="157276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980B9"/>
                </a:solidFill>
                <a:latin typeface="Calibri"/>
              </a:rPr>
              <a:t>Stage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79" y="1938528"/>
            <a:ext cx="21762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Cloud-Native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05456"/>
            <a:ext cx="1737360" cy="2743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39" y="2615184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Pain: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Data Not Persisted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&amp; No Web 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7" y="2487168"/>
            <a:ext cx="137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B4D8"/>
                </a:solidFill>
                <a:latin typeface="Calibri"/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1335024"/>
            <a:ext cx="2176272" cy="4754880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01200" y="1335024"/>
            <a:ext cx="2176272" cy="14630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0" y="1572768"/>
            <a:ext cx="2176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E44AD"/>
                </a:solidFill>
                <a:latin typeface="Calibri"/>
              </a:rPr>
              <a:t>Stage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1938528"/>
            <a:ext cx="21762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DevOps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29800" y="2505456"/>
            <a:ext cx="1737360" cy="2743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8360" y="2615184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Result: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CI/CD + Docker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+ Kubernetes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6181344"/>
            <a:ext cx="11640312" cy="475488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34640" y="6254496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39C12"/>
                </a:solidFill>
                <a:latin typeface="Calibri"/>
              </a:rPr>
              <a:t>DI + Layers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6254496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7AE60"/>
                </a:solidFill>
                <a:latin typeface="Calibri"/>
              </a:rPr>
              <a:t>IoC + Config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6254496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980B9"/>
                </a:solidFill>
                <a:latin typeface="Calibri"/>
              </a:rPr>
              <a:t>JPA + Liquibase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19" y="6254496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E44AD"/>
                </a:solidFill>
                <a:latin typeface="Calibri"/>
              </a:rPr>
              <a:t>Docker + K8s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Stage 1 — The Legacy Monolith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Single file, zero seams — nothing is testable or replaceable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1  ·  Legacy Monolith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303520" cy="5138928"/>
          </a:xfrm>
          <a:prstGeom prst="rect">
            <a:avLst/>
          </a:prstGeom>
          <a:solidFill>
            <a:srgbClr val="22365C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4C3C"/>
                </a:solidFill>
                <a:latin typeface="Calibri"/>
              </a:rPr>
              <a:t>ProductApp.java  (main — 74 lines)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4937760" cy="1115568"/>
          </a:xfrm>
          <a:prstGeom prst="rect">
            <a:avLst/>
          </a:prstGeom>
          <a:solidFill>
            <a:srgbClr val="28406A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11680"/>
            <a:ext cx="4791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74C3C"/>
                </a:solidFill>
                <a:latin typeface="Calibri"/>
              </a:rPr>
              <a:t>[ Presentation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395728"/>
            <a:ext cx="4791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  <a:latin typeface="Calibri"/>
              </a:rPr>
              <a:t>Scanner input · println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054096"/>
            <a:ext cx="4791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6B6B"/>
                </a:solidFill>
                <a:latin typeface="Calibri"/>
              </a:rPr>
              <a:t>◀── tightly coupled ──▶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64992"/>
            <a:ext cx="4937760" cy="1115568"/>
          </a:xfrm>
          <a:prstGeom prst="rect">
            <a:avLst/>
          </a:prstGeom>
          <a:solidFill>
            <a:srgbClr val="28406A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56432"/>
            <a:ext cx="4791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39C12"/>
                </a:solidFill>
                <a:latin typeface="Calibri"/>
              </a:rPr>
              <a:t>[ Business Logic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4791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  <a:latin typeface="Calibri"/>
              </a:rPr>
              <a:t>Validates · checks duplicates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498848"/>
            <a:ext cx="479145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6B6B"/>
                </a:solidFill>
                <a:latin typeface="Calibri"/>
              </a:rPr>
              <a:t>◀── tightly coupled 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09744"/>
            <a:ext cx="4937760" cy="1115568"/>
          </a:xfrm>
          <a:prstGeom prst="rect">
            <a:avLst/>
          </a:prstGeom>
          <a:solidFill>
            <a:srgbClr val="28406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901184"/>
            <a:ext cx="479145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7AE60"/>
                </a:solidFill>
                <a:latin typeface="Calibri"/>
              </a:rPr>
              <a:t>[ Data Storage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285232"/>
            <a:ext cx="4791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6E0"/>
                </a:solidFill>
                <a:latin typeface="Calibri"/>
              </a:rPr>
              <a:t>static List&lt;String&gt;  global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62472" y="1389888"/>
            <a:ext cx="5669280" cy="5138928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5352" y="148132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Why It Breaks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5352" y="1901952"/>
            <a:ext cx="530352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▸  No injection seam — cannot mock anything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▸  3 jobs in main() — untestable by design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▸  static List&lt;String&gt; — mutable, global, fragile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▸  println for errors — uncatchable programmatically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▸  Every change risks breaking everything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The exercise: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Ask trainees to write a unit test for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the duplicate-check logic.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They cannot — there is no injection point.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CCD6E0"/>
                </a:solidFill>
                <a:latin typeface="Calibri"/>
              </a:rPr>
              <a:t>That frustration IS the lesson.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Stage 2 — Clean Layered Java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4 classes, one job each — every dependency explicit and mockable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2  ·  Manual DI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120640" cy="658368"/>
          </a:xfrm>
          <a:prstGeom prst="rect">
            <a:avLst/>
          </a:prstGeom>
          <a:solidFill>
            <a:srgbClr val="22365C"/>
          </a:solidFill>
          <a:ln w="228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447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39C12"/>
                </a:solidFill>
                <a:latin typeface="Calibri"/>
              </a:rPr>
              <a:t>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ProductController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8483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D6E0"/>
                </a:solidFill>
                <a:latin typeface="Calibri"/>
              </a:rPr>
              <a:t>Constructor Injection  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40864"/>
            <a:ext cx="5120640" cy="658368"/>
          </a:xfrm>
          <a:prstGeom prst="rect">
            <a:avLst/>
          </a:prstGeom>
          <a:solidFill>
            <a:srgbClr val="22365C"/>
          </a:solidFill>
          <a:ln w="2286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3957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39C12"/>
                </a:solidFill>
                <a:latin typeface="Calibri"/>
              </a:rPr>
              <a:t>Business 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51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ProductService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3580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D6E0"/>
                </a:solidFill>
                <a:latin typeface="Calibri"/>
              </a:rPr>
              <a:t>Depends on Abstraction  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5120640" cy="658368"/>
          </a:xfrm>
          <a:prstGeom prst="rect">
            <a:avLst/>
          </a:prstGeom>
          <a:solidFill>
            <a:srgbClr val="0D1B2E"/>
          </a:solidFill>
          <a:ln w="2286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4670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4D8"/>
                </a:solidFill>
                <a:latin typeface="Calibri"/>
              </a:rPr>
              <a:t>«interface»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6027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ProductStore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98678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D6E0"/>
                </a:solidFill>
                <a:latin typeface="Calibri"/>
              </a:rPr>
              <a:t>Implements Contract  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42816"/>
            <a:ext cx="5120640" cy="658368"/>
          </a:xfrm>
          <a:prstGeom prst="rect">
            <a:avLst/>
          </a:prstGeom>
          <a:solidFill>
            <a:srgbClr val="22365C"/>
          </a:solidFill>
          <a:ln w="228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7AE60"/>
                </a:solidFill>
                <a:latin typeface="Calibri"/>
              </a:rPr>
              <a:t>Data 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537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InMemoryProductStore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79592" y="1389888"/>
            <a:ext cx="5852160" cy="5138928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62472" y="1481328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What Each Layer Buys You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62472" y="1901952"/>
            <a:ext cx="5486400" cy="4443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ProductStore (interface)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Service knows WHAT ops exist, not HOW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Swap storage by writing one new class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InMemoryProductStore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Owns the ArrayList exclusively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Returns unmodifiableList — no external mutation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ProductService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Validates · trims · logs via SLF4J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Throws BusinessRuleViolationException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ProductController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I/O only · catches domain exceptions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Main.java — 3-line wiring: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new Store → new Service(store)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→ new Controller(service)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B2A4A"/>
                </a:solidFill>
                <a:latin typeface="Calibri"/>
              </a:rPr>
              <a:t>Stage 2 — The Testing Seam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Constructor Injection creates the gap that lets mocks 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2  ·  JUnit 5 + Mockito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53312"/>
            <a:ext cx="5760720" cy="179222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44752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PRODUCTION PATH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2286000" cy="621792"/>
          </a:xfrm>
          <a:prstGeom prst="rect">
            <a:avLst/>
          </a:prstGeom>
          <a:solidFill>
            <a:srgbClr val="22365C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ProductService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9504" y="1975104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──▶ injects ──▶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59936" y="1828800"/>
            <a:ext cx="2066543" cy="621792"/>
          </a:xfrm>
          <a:prstGeom prst="rect">
            <a:avLst/>
          </a:prstGeom>
          <a:solidFill>
            <a:srgbClr val="22365C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000" b="1">
                <a:solidFill>
                  <a:srgbClr val="CCD6E0"/>
                </a:solidFill>
                <a:latin typeface="Calibri"/>
              </a:rPr>
              <a:t>InMemoryProductStore</a:t>
            </a:r>
          </a:p>
          <a:p>
            <a:pPr algn="ctr"/>
            <a:r>
              <a:rPr sz="1000" b="1">
                <a:solidFill>
                  <a:srgbClr val="CCD6E0"/>
                </a:solidFill>
                <a:latin typeface="Calibri"/>
              </a:rPr>
              <a:t>(real ArrayList)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91840"/>
            <a:ext cx="5760720" cy="179222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83280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TEST PATH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67328"/>
            <a:ext cx="2286000" cy="621792"/>
          </a:xfrm>
          <a:prstGeom prst="rect">
            <a:avLst/>
          </a:prstGeom>
          <a:solidFill>
            <a:srgbClr val="22365C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ProductService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3913632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──▶ injects ──▶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59936" y="3767328"/>
            <a:ext cx="2066543" cy="621792"/>
          </a:xfrm>
          <a:prstGeom prst="rect">
            <a:avLst/>
          </a:prstGeom>
          <a:solidFill>
            <a:srgbClr val="0D1B2E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000" b="1">
                <a:solidFill>
                  <a:srgbClr val="00B4D8"/>
                </a:solidFill>
                <a:latin typeface="Calibri"/>
              </a:rPr>
              <a:t>@Mock ProductStore</a:t>
            </a:r>
          </a:p>
          <a:p>
            <a:pPr algn="ctr"/>
            <a:r>
              <a:rPr sz="1000" b="1">
                <a:solidFill>
                  <a:srgbClr val="00B4D8"/>
                </a:solidFill>
                <a:latin typeface="Calibri"/>
              </a:rPr>
              <a:t>(fast · no ArrayList)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230368"/>
            <a:ext cx="5760720" cy="1280160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21808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successfulSave  →  save() called exactly once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blankName / nullName  →  verifyNoInteractions(store)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duplicateName  →  verify(store, never()).save()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trimsWhitespace  →  "  Widget  " saves as "Widget"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9672" y="1353312"/>
            <a:ext cx="5212080" cy="5157216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02552" y="1444752"/>
            <a:ext cx="4846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Why This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1901952"/>
            <a:ext cx="4846320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Tests run in milliseconds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No database, no server, no infrastructure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verifyNoInteractions(store)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Proves the database was never touched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Not just that an exception was thrown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This is the most powerful line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in the entire test suite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Without the interface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→ no mock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→ no test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→ no confidence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Constructor injection is what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makes the mock possible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Stage 3 — Spring Boot Advantages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Same architecture as Stage 2 — the container eliminates the manual labour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3  ·  Spring Boot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89888"/>
            <a:ext cx="5669280" cy="115214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89888"/>
            <a:ext cx="109728" cy="115214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48132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Calibri"/>
              </a:rPr>
              <a:t>Auto IoC Wiring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5394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@Service / @Repository — Spring wires the full graph. Zero new code when adding classes.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389888"/>
            <a:ext cx="5669280" cy="115214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389888"/>
            <a:ext cx="109728" cy="115214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481328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  <a:latin typeface="Calibri"/>
              </a:rPr>
              <a:t>Externalised Config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28800"/>
            <a:ext cx="5394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Every application.yaml value overridable by env var at runtime. No rebuild. No file change.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5669280" cy="115214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688336"/>
            <a:ext cx="109728" cy="115214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77977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BOM Version Mgmt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3127248"/>
            <a:ext cx="5394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spring-boot-starter-parent pins all compatible versions. Declare intent, not version numbers.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688336"/>
            <a:ext cx="5669280" cy="115214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688336"/>
            <a:ext cx="109728" cy="115214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2779776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Calibri"/>
              </a:rPr>
              <a:t>Embedded Server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127248"/>
            <a:ext cx="5394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Tomcat inside the JAR. java -jar is the entire deployment. No server installation.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986783"/>
            <a:ext cx="5669280" cy="115214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986783"/>
            <a:ext cx="109728" cy="115214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78223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Calibri"/>
              </a:rPr>
              <a:t>Spring Data JPA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4425695"/>
            <a:ext cx="5394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JpaRepository generates findAll(), save(), deleteById(). Zero SQL. Zero DAO boilerplate.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986783"/>
            <a:ext cx="5669280" cy="115214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3986783"/>
            <a:ext cx="109728" cy="1152144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4078223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980B9"/>
                </a:solidFill>
                <a:latin typeface="Calibri"/>
              </a:rPr>
              <a:t>Actuator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6248" y="4425695"/>
            <a:ext cx="5394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/actuator/health, /actuator/metrics — Kubernetes probes and monitoring dashboards built in.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85231"/>
            <a:ext cx="5669280" cy="115214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5285231"/>
            <a:ext cx="109728" cy="1152144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5376671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39C12"/>
                </a:solidFill>
                <a:latin typeface="Calibri"/>
              </a:rPr>
              <a:t>Profile Support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" y="5724143"/>
            <a:ext cx="5394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application-dev.yaml vs application-prod.yaml. Switch with --spring.profiles.active=prod.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5285231"/>
            <a:ext cx="5669280" cy="1152144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5285231"/>
            <a:ext cx="109728" cy="1152144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5376671"/>
            <a:ext cx="5394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E44AD"/>
                </a:solidFill>
                <a:latin typeface="Calibri"/>
              </a:rPr>
              <a:t>Testing Support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56248" y="5724143"/>
            <a:ext cx="53949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  <a:latin typeface="Calibri"/>
              </a:rPr>
              <a:t>spring-boot-starter-test bundles JUnit 5 + Mockito + MockMvc. One dependency for all tests.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Stage 3 — Two Delivery Paths, One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Adding REST = one dependency + one class — ProductService untouched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3  ·  Zero Core Changes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2560320" cy="621792"/>
          </a:xfrm>
          <a:prstGeom prst="rect">
            <a:avLst/>
          </a:prstGeom>
          <a:solidFill>
            <a:srgbClr val="22365C"/>
          </a:solidFill>
          <a:ln w="190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100" b="1">
                <a:solidFill>
                  <a:srgbClr val="CCD6E0"/>
                </a:solidFill>
                <a:latin typeface="Calibri"/>
              </a:rPr>
              <a:t>Terminal /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66543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B4D8"/>
                </a:solidFill>
                <a:latin typeface="Calibri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2560320" cy="749808"/>
          </a:xfrm>
          <a:prstGeom prst="rect">
            <a:avLst/>
          </a:prstGeom>
          <a:solidFill>
            <a:srgbClr val="22365C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ProductController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CommandLineRunner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18211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B4D8"/>
                </a:solidFill>
                <a:latin typeface="Calibr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389888"/>
            <a:ext cx="2743200" cy="621792"/>
          </a:xfrm>
          <a:prstGeom prst="rect">
            <a:avLst/>
          </a:prstGeom>
          <a:solidFill>
            <a:srgbClr val="22365C"/>
          </a:solidFill>
          <a:ln w="19050">
            <a:solidFill>
              <a:srgbClr val="CC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100" b="1">
                <a:solidFill>
                  <a:srgbClr val="CCD6E0"/>
                </a:solidFill>
                <a:latin typeface="Calibri"/>
              </a:rPr>
              <a:t>Browser / HTTP 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8552" y="2066543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B4D8"/>
                </a:solidFill>
                <a:latin typeface="Calibri"/>
              </a:rPr>
              <a:t>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88552" y="2377440"/>
            <a:ext cx="2743200" cy="749808"/>
          </a:xfrm>
          <a:prstGeom prst="rect">
            <a:avLst/>
          </a:prstGeom>
          <a:solidFill>
            <a:srgbClr val="22365C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ProductApiController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@RestController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31821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0B4D8"/>
                </a:solidFill>
                <a:latin typeface="Calibri"/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3493008"/>
            <a:ext cx="5605272" cy="822960"/>
          </a:xfrm>
          <a:prstGeom prst="rect">
            <a:avLst/>
          </a:prstGeom>
          <a:solidFill>
            <a:srgbClr val="0A3D1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ProductService  —  Core Business Logic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@Service  ·  Untouched  ·  All 5 tests still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37083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D6E0"/>
                </a:solidFill>
                <a:latin typeface="Calibri"/>
              </a:rPr>
              <a:t>▼  depends on abstraction  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4681728"/>
            <a:ext cx="5605272" cy="621792"/>
          </a:xfrm>
          <a:prstGeom prst="rect">
            <a:avLst/>
          </a:prstGeom>
          <a:solidFill>
            <a:srgbClr val="22365C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ProductStore (interface)  →  InMemoryProductStore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522976"/>
            <a:ext cx="11274552" cy="1024128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5961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6E0"/>
                </a:solidFill>
                <a:latin typeface="Calibri"/>
              </a:rPr>
              <a:t>pom.xml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9070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+starter-web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25496" y="55961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6E0"/>
                </a:solidFill>
                <a:latin typeface="Calibri"/>
              </a:rPr>
              <a:t>New class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25496" y="59070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ProductApiController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56632" y="55961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6E0"/>
                </a:solidFill>
                <a:latin typeface="Calibri"/>
              </a:rPr>
              <a:t>@ControllerAdvice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6632" y="59070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→ HTTP 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55961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6E0"/>
                </a:solidFill>
                <a:latin typeface="Calibri"/>
              </a:rPr>
              <a:t>ProductService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7768" y="59070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ZERO lines changed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5596128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CD6E0"/>
                </a:solidFill>
                <a:latin typeface="Calibri"/>
              </a:rPr>
              <a:t>All 5 unit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8904" y="59070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Still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Stage 4 — Cloud-Native Spring Boot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Browser UI + Spring Data JPA + Liquibase Migrations + H2 Database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4  ·  Cloud-Native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74552" cy="804672"/>
          </a:xfrm>
          <a:prstGeom prst="rect">
            <a:avLst/>
          </a:prstGeom>
          <a:solidFill>
            <a:srgbClr val="2A1A4A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63040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E44AD"/>
                </a:solidFill>
                <a:latin typeface="Calibri"/>
              </a:rPr>
              <a:t>Browser  /  Thymeleaf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527048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products.html  ·  Form + Table  ·  localhost:8081/web/products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212848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40864"/>
            <a:ext cx="11274552" cy="804672"/>
          </a:xfrm>
          <a:prstGeom prst="rect">
            <a:avLst/>
          </a:prstGeom>
          <a:solidFill>
            <a:srgbClr val="22365C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414016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@Controller  ProductWebController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78024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GET /web/products  ·  POST /web/products  ·  POST /{id}/delete  ·  BindingResult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163824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11274552" cy="804672"/>
          </a:xfrm>
          <a:prstGeom prst="rect">
            <a:avLst/>
          </a:prstGeom>
          <a:solidFill>
            <a:srgbClr val="22365C"/>
          </a:solidFill>
          <a:ln w="1905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64992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39C12"/>
                </a:solidFill>
                <a:latin typeface="Calibri"/>
              </a:rPr>
              <a:t>@Service  ProductService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4290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@Transactional  ·  register()  ·  findAll()  ·  delete()  ·  SLF4J logging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114800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42816"/>
            <a:ext cx="11274552" cy="804672"/>
          </a:xfrm>
          <a:prstGeom prst="rect">
            <a:avLst/>
          </a:prstGeom>
          <a:solidFill>
            <a:srgbClr val="22365C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315968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980B9"/>
                </a:solidFill>
                <a:latin typeface="Calibri"/>
              </a:rPr>
              <a:t>@Repository  ProductRepository extends JpaRepository&lt;Product, Long&gt;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379976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findAll() · save() · deleteById() · findByNameIgnoreCase()  —  zero SQL written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5065776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93792"/>
            <a:ext cx="11274552" cy="804672"/>
          </a:xfrm>
          <a:prstGeom prst="rect">
            <a:avLst/>
          </a:prstGeom>
          <a:solidFill>
            <a:srgbClr val="0D1B2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4114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  <a:latin typeface="Calibri"/>
              </a:rPr>
              <a:t>H2 Database  +  Liquibase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30952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001: CREATE TABLE  ·  002: UNIQUE constraint  ·  003: seed data  ·  DATABASECHANGELOG tracks every run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254496"/>
            <a:ext cx="11274552" cy="347472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63093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✓  ddl-auto: none — Liquibase owns schema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63093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✓  @PrePersist stamps created_at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63093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✓  H2 console: /h2-console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63093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  <a:latin typeface="Calibri"/>
              </a:rPr>
              <a:t>✓  Port: 8081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B2A4A"/>
                </a:solidFill>
                <a:latin typeface="Calibri"/>
              </a:rPr>
              <a:t>Stage 4 — H2 In-Memory vs File-Based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Two modes in application.yaml — one teaches lifecycle, one teaches persistence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4  ·  Liquibase Lifecycle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35024"/>
            <a:ext cx="5394960" cy="5230368"/>
          </a:xfrm>
          <a:prstGeom prst="rect">
            <a:avLst/>
          </a:prstGeom>
          <a:solidFill>
            <a:srgbClr val="EE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264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MODE 1 — In-Memory  (default)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5029200" cy="274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01952"/>
            <a:ext cx="5029200" cy="694944"/>
          </a:xfrm>
          <a:prstGeom prst="rect">
            <a:avLst/>
          </a:prstGeom>
          <a:solidFill>
            <a:srgbClr val="0D1B2E"/>
          </a:solidFill>
        </p:spPr>
        <p:txBody>
          <a:bodyPr wrap="none" lIns="127000" tIns="88900">
            <a:spAutoFit/>
          </a:bodyPr>
          <a:lstStyle/>
          <a:p>
            <a:r>
              <a:rPr sz="1100">
                <a:solidFill>
                  <a:srgbClr val="E74C3C"/>
                </a:solidFill>
                <a:latin typeface="Courier New"/>
              </a:rPr>
              <a:t>datasource:</a:t>
            </a:r>
          </a:p>
          <a:p>
            <a:r>
              <a:rPr sz="1100">
                <a:solidFill>
                  <a:srgbClr val="E74C3C"/>
                </a:solidFill>
                <a:latin typeface="Courier New"/>
              </a:rPr>
              <a:t>  url: jdbc:h2:mem:productdb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88336"/>
            <a:ext cx="5029200" cy="362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▸  Data wiped on every restart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▸  Liquibase re-runs ALL 3 changesets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▸  Seed data re-inserted each boot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H2 Console JDBC URL: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jdbc:h2:mem:productdb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Startup log shows: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Run: 3  ·  Previously run: 0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Teaches: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Liquibase migration lifecycle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Stateless app design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Why persistent storage matters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36792" y="1335024"/>
            <a:ext cx="5394960" cy="5230368"/>
          </a:xfrm>
          <a:prstGeom prst="rect">
            <a:avLst/>
          </a:prstGeom>
          <a:solidFill>
            <a:srgbClr val="E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42646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2A4A"/>
                </a:solidFill>
                <a:latin typeface="Calibri"/>
              </a:rPr>
              <a:t>MODE 2 — File-Based  (persistent)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9672" y="1828800"/>
            <a:ext cx="5029200" cy="274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901952"/>
            <a:ext cx="5029200" cy="694944"/>
          </a:xfrm>
          <a:prstGeom prst="rect">
            <a:avLst/>
          </a:prstGeom>
          <a:solidFill>
            <a:srgbClr val="0D1B2E"/>
          </a:solidFill>
        </p:spPr>
        <p:txBody>
          <a:bodyPr wrap="none" lIns="127000" tIns="88900">
            <a:spAutoFit/>
          </a:bodyPr>
          <a:lstStyle/>
          <a:p>
            <a:r>
              <a:rPr sz="1100">
                <a:solidFill>
                  <a:srgbClr val="27AE60"/>
                </a:solidFill>
                <a:latin typeface="Courier New"/>
              </a:rPr>
              <a:t>datasource:</a:t>
            </a:r>
          </a:p>
          <a:p>
            <a:r>
              <a:rPr sz="1100">
                <a:solidFill>
                  <a:srgbClr val="27AE60"/>
                </a:solidFill>
                <a:latin typeface="Courier New"/>
              </a:rPr>
              <a:t>  url: jdbc:h2:file:./data/productdb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688336"/>
            <a:ext cx="5029200" cy="362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▸  Data survives restarts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▸  Liquibase skips already-applied changesets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▸  ./data/productdb.mv.db created on disk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H2 Console JDBC URL: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jdbc:h2:file:./data/productdb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Startup log shows: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Run: 0  ·  Previously run: 3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Teaches: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Liquibase idempotency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DATABASECHANGELOG tracking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Persistent dev workflow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Stage 5 — Stop Committing to 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The 3-step enforcement model that signals professional maturity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5  ·  Git Workflow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26464"/>
            <a:ext cx="3657600" cy="5102352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26464"/>
            <a:ext cx="3657600" cy="128016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27632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980B9"/>
                </a:solidFill>
                <a:latin typeface="Calibr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9339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Feature Branch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2"/>
            <a:ext cx="3291840" cy="2743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feature/add-product-validation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fix/duplicate-check-edge-case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main = production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Direct commit = no code review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Direct commit = no CI gate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426464"/>
            <a:ext cx="3657600" cy="5102352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426464"/>
            <a:ext cx="3657600" cy="128016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627632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980B9"/>
                </a:solidFill>
                <a:latin typeface="Calibri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99339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Semantic Commits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53712" y="2450592"/>
            <a:ext cx="3291840" cy="2743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56032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feat: add BusinessRuleViolationException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test: verify null triggers guard first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refactor: extract dup-check to service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chore: configure Maven Shade manifest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Machine-readable · grep-able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Generates changelogs automatically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1426464"/>
            <a:ext cx="3657600" cy="5102352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426464"/>
            <a:ext cx="3657600" cy="128016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7344" y="1627632"/>
            <a:ext cx="3291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980B9"/>
                </a:solidFill>
                <a:latin typeface="Calibri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9339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Pull Request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67344" y="2450592"/>
            <a:ext cx="3291840" cy="2743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7344" y="2560320"/>
            <a:ext cx="32918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Peer review before code reaches main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Merge ONLY when: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✓ CI pipeline passes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  ✓ Reviewer approves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PR history = audit trail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Stage 5 — Docker: Multi-Stage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The builder JDK never enters the runtime image — portable, minimal, secure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00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5  ·  Docker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303520" cy="1956816"/>
          </a:xfrm>
          <a:prstGeom prst="rect">
            <a:avLst/>
          </a:prstGeom>
          <a:solidFill>
            <a:srgbClr val="0D2A4A"/>
          </a:solidFill>
          <a:ln w="25400">
            <a:solidFill>
              <a:srgbClr val="009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BFF"/>
                </a:solidFill>
                <a:latin typeface="Calibri"/>
              </a:rPr>
              <a:t>STAGE 1: BUILDER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6537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ourier New"/>
              </a:rPr>
              <a:t>FROM maven:3.9.8-eclipse-temurin-21-alpine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49377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✓  Full JDK 21 + Maven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✓  Downloads dependencies (cached layer)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✓  Compiles source · packages fat 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15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B4D8"/>
                </a:solidFill>
                <a:latin typeface="Calibri"/>
              </a:rPr>
              <a:t>▼  Only the compiled .jar crosses this boundary  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12463"/>
            <a:ext cx="5303520" cy="1956816"/>
          </a:xfrm>
          <a:prstGeom prst="rect">
            <a:avLst/>
          </a:prstGeom>
          <a:solidFill>
            <a:srgbClr val="0A2A18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803904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Calibri"/>
              </a:rPr>
              <a:t>STAGE 2: 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879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ourier New"/>
              </a:rPr>
              <a:t>FROM eclipse-temurin:21-jre-alpine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49377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✓  JDK stripped — JRE only (~80 MB)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✓  Non-root appuser created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CD6E0"/>
                </a:solidFill>
                <a:latin typeface="Calibri"/>
              </a:rPr>
              <a:t>✓  COPY --from=builder  (JAR only)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62472" y="1389888"/>
            <a:ext cx="5669280" cy="5138928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148132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BFF"/>
                </a:solidFill>
                <a:latin typeface="Calibri"/>
              </a:rPr>
              <a:t>Key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8192" y="1901952"/>
            <a:ext cx="5559552" cy="4480560"/>
          </a:xfrm>
          <a:prstGeom prst="rect">
            <a:avLst/>
          </a:prstGeom>
          <a:solidFill>
            <a:srgbClr val="0D1B2E"/>
          </a:solidFill>
        </p:spPr>
        <p:txBody>
          <a:bodyPr wrap="none" lIns="127000" tIns="88900">
            <a:spAutoFit/>
          </a:bodyPr>
          <a:lstStyle/>
          <a:p>
            <a:r>
              <a:rPr sz="1100">
                <a:solidFill>
                  <a:srgbClr val="009BFF"/>
                </a:solidFill>
                <a:latin typeface="Courier New"/>
              </a:rPr>
              <a:t># Build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docker build -t cloud-native-registry:1.0.0 .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# Run (port mapped)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docker run -p 8081:8081 cloud-native-registry:1.0.0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# Override config — no rebuild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docker run -p 8081:8081 \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  -e LOGGING_LEVEL_COM_BELLS=DEBUG \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  cloud-native-registry:1.0.0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# Background + logs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docker run -d -p 8081:8081 --name app \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  cloud-native-registry:1.0.0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docker logs -f app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# Prove JDK was stripped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docker run --rm --entrypoint sh \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  cloud-native-registry:1.0.0 \</a:t>
            </a:r>
          </a:p>
          <a:p>
            <a:r>
              <a:rPr sz="1100">
                <a:solidFill>
                  <a:srgbClr val="009BFF"/>
                </a:solidFill>
                <a:latin typeface="Courier New"/>
              </a:rPr>
              <a:t>  -c "which javac || echo JDK stripped"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Stage 5 — Kubernetes: Production Orchestration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Auto-scaling · self-healing · health probes · zero-downtime rollouts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0" y="164592"/>
            <a:ext cx="2404872" cy="457200"/>
          </a:xfrm>
          <a:prstGeom prst="round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19488" y="182880"/>
            <a:ext cx="236829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Stage 5  ·  Kubernetes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6309360" cy="5138928"/>
          </a:xfrm>
          <a:prstGeom prst="rect">
            <a:avLst/>
          </a:prstGeom>
          <a:solidFill>
            <a:srgbClr val="0D1E3E"/>
          </a:solidFill>
          <a:ln w="25400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5943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26CE5"/>
                </a:solidFill>
                <a:latin typeface="Calibri"/>
              </a:rPr>
              <a:t>Kubernetes 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83664"/>
            <a:ext cx="5943600" cy="713232"/>
          </a:xfrm>
          <a:prstGeom prst="rect">
            <a:avLst/>
          </a:prstGeom>
          <a:solidFill>
            <a:srgbClr val="1A2A5C"/>
          </a:solidFill>
          <a:ln w="19050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Service (NodePort :30080)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Routes traffic to healthy 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D6E0"/>
                </a:solidFill>
                <a:latin typeface="Calibri"/>
              </a:rPr>
              <a:t>▼  load balances across all Running pods  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44368"/>
            <a:ext cx="5943600" cy="347472"/>
          </a:xfrm>
          <a:prstGeom prst="rect">
            <a:avLst/>
          </a:prstGeom>
          <a:solidFill>
            <a:srgbClr val="0A385C"/>
          </a:solidFill>
          <a:ln w="19050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Deployment  (replicas: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46704"/>
            <a:ext cx="2834640" cy="1298448"/>
          </a:xfrm>
          <a:prstGeom prst="rect">
            <a:avLst/>
          </a:prstGeom>
          <a:solidFill>
            <a:srgbClr val="22365C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Pod 1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cloud-native-registry:1.0.0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:8081  ·  ✓ Running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3346704"/>
            <a:ext cx="2834640" cy="1298448"/>
          </a:xfrm>
          <a:prstGeom prst="rect">
            <a:avLst/>
          </a:prstGeom>
          <a:solidFill>
            <a:srgbClr val="22365C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lIns="762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Pod 2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cloud-native-registry:1.0.0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:8081  ·  ✓ Running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36592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B4D8"/>
                </a:solidFill>
                <a:latin typeface="Calibri"/>
              </a:rPr>
              <a:t>livenessProbe /actuator/health/liveness  ·  readinessProbe /actuator/health/readiness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D6E0"/>
                </a:solidFill>
                <a:latin typeface="Calibri"/>
              </a:rPr>
              <a:t>runAsNonRoot: true  ·  CPU: 250m–500m  ·  Memory: 256Mi–512Mi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21808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E44AD"/>
                </a:solidFill>
                <a:latin typeface="Calibri"/>
              </a:rPr>
              <a:t>User → localhost:30080/web/products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8312" y="1389888"/>
            <a:ext cx="4663440" cy="5138928"/>
          </a:xfrm>
          <a:prstGeom prst="rect">
            <a:avLst/>
          </a:prstGeom>
          <a:solidFill>
            <a:srgbClr val="223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1481328"/>
            <a:ext cx="4297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26CE5"/>
                </a:solidFill>
                <a:latin typeface="Calibri"/>
              </a:rPr>
              <a:t>Key Commands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1901952"/>
            <a:ext cx="4553712" cy="4498848"/>
          </a:xfrm>
          <a:prstGeom prst="rect">
            <a:avLst/>
          </a:prstGeom>
          <a:solidFill>
            <a:srgbClr val="0D1B2E"/>
          </a:solidFill>
        </p:spPr>
        <p:txBody>
          <a:bodyPr wrap="none" lIns="127000" tIns="88900">
            <a:spAutoFit/>
          </a:bodyPr>
          <a:lstStyle/>
          <a:p>
            <a:r>
              <a:rPr sz="1100">
                <a:solidFill>
                  <a:srgbClr val="326CE5"/>
                </a:solidFill>
                <a:latin typeface="Courier New"/>
              </a:rPr>
              <a:t># Deploy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apply -f k8s/deployment.yaml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apply -f k8s/service.yaml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get pods -w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# Self-healing demo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delete pod &lt;pod-name&gt;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get pods -w  # watch replacement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# Scale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scale deployment \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  product-registry --replicas=4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# Logs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logs -l app=product-registry -f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# Rolling config update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set env deployment/product-registry \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  LOGGING_LEVEL_COM_BELLS=DEBUG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# Rollback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rollout undo deployment/product-registry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/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# Teardown</a:t>
            </a:r>
          </a:p>
          <a:p>
            <a:r>
              <a:rPr sz="1100">
                <a:solidFill>
                  <a:srgbClr val="326CE5"/>
                </a:solidFill>
                <a:latin typeface="Courier New"/>
              </a:rPr>
              <a:t>kubectl delete -f k8s/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B2A4A"/>
                </a:solidFill>
                <a:latin typeface="Calibri"/>
              </a:rPr>
              <a:t>Deployment Method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Same app, three progressively more production-ready delivery mechanisms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3657600" cy="5230368"/>
          </a:xfrm>
          <a:prstGeom prst="rect">
            <a:avLst/>
          </a:prstGeom>
          <a:solidFill>
            <a:srgbClr val="EE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35024"/>
            <a:ext cx="3657600" cy="4754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898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ourier New"/>
              </a:rPr>
              <a:t>java -jar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980B9"/>
                </a:solidFill>
                <a:latin typeface="Calibri"/>
              </a:rPr>
              <a:t>Java JAR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304288"/>
            <a:ext cx="3383280" cy="2743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395728"/>
            <a:ext cx="340156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Requires Java 21 on host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Port: 8081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Config: --key=value flags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Scaling: manual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Health: none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Best for: local dev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335024"/>
            <a:ext cx="3657600" cy="5230368"/>
          </a:xfrm>
          <a:prstGeom prst="rect">
            <a:avLst/>
          </a:prstGeom>
          <a:solidFill>
            <a:srgbClr val="EE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335024"/>
            <a:ext cx="3657600" cy="475488"/>
          </a:xfrm>
          <a:prstGeom prst="rect">
            <a:avLst/>
          </a:prstGeom>
          <a:solidFill>
            <a:srgbClr val="00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3898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ourier New"/>
              </a:rPr>
              <a:t>docker 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BFF"/>
                </a:solidFill>
                <a:latin typeface="Calibri"/>
              </a:rPr>
              <a:t>Docker Container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07992" y="2304288"/>
            <a:ext cx="3383280" cy="27432"/>
          </a:xfrm>
          <a:prstGeom prst="rect">
            <a:avLst/>
          </a:prstGeom>
          <a:solidFill>
            <a:srgbClr val="009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2395728"/>
            <a:ext cx="340156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Requires Docker Desktop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Port: 8081 (via -p flag)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Config: -e ENV=value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Scaling: manual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Health: none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Best for: CI/CD, staging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35024"/>
            <a:ext cx="3657600" cy="5230368"/>
          </a:xfrm>
          <a:prstGeom prst="rect">
            <a:avLst/>
          </a:prstGeom>
          <a:solidFill>
            <a:srgbClr val="EE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35024"/>
            <a:ext cx="3657600" cy="475488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21624" y="13898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ourier New"/>
              </a:rPr>
              <a:t>kubectl apply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190195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26CE5"/>
                </a:solidFill>
                <a:latin typeface="Calibri"/>
              </a:rPr>
              <a:t>Kubernetes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21624" y="2304288"/>
            <a:ext cx="3383280" cy="27432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1624" y="2395728"/>
            <a:ext cx="3401568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Requires cluster + kubectl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Port: 30080 (NodePort)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Config: env: in deployment.yaml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Scaling: kubectl scale --replicas=N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Health: liveness + readiness probes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Best for: production cloud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B2A4A"/>
                </a:solidFill>
                <a:latin typeface="Calibri"/>
              </a:rPr>
              <a:t>The 5-Stage Skill Comparison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Every row is a skill you can defend in an engineering interview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335024"/>
          <a:ext cx="11247120" cy="5230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  <a:gridCol w="1920240"/>
                <a:gridCol w="1920240"/>
                <a:gridCol w="2011680"/>
                <a:gridCol w="1920240"/>
              </a:tblGrid>
              <a:tr h="1046073">
                <a:tc>
                  <a:txBody>
                    <a:bodyPr tIns="38100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 tIns="38100"/>
                    <a:lstStyle/>
                    <a:p>
                      <a:pPr algn="ctr"/>
                      <a:r>
                        <a:rPr sz="1200" b="1">
                          <a:solidFill>
                            <a:srgbClr val="E74C3C"/>
                          </a:solidFill>
                          <a:latin typeface="Calibri"/>
                        </a:rPr>
                        <a:t>Stage 1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E74C3C"/>
                          </a:solidFill>
                          <a:latin typeface="Calibri"/>
                        </a:rPr>
                        <a:t>Monolith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 tIns="38100"/>
                    <a:lstStyle/>
                    <a:p>
                      <a:pPr algn="ctr"/>
                      <a:r>
                        <a:rPr sz="1200" b="1">
                          <a:solidFill>
                            <a:srgbClr val="F39C12"/>
                          </a:solidFill>
                          <a:latin typeface="Calibri"/>
                        </a:rPr>
                        <a:t>Stage 2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39C12"/>
                          </a:solidFill>
                          <a:latin typeface="Calibri"/>
                        </a:rPr>
                        <a:t>Clean Java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 tIns="38100"/>
                    <a:lstStyle/>
                    <a:p>
                      <a:pPr algn="ctr"/>
                      <a:r>
                        <a:rPr sz="1200" b="1">
                          <a:solidFill>
                            <a:srgbClr val="27AE60"/>
                          </a:solidFill>
                          <a:latin typeface="Calibri"/>
                        </a:rPr>
                        <a:t>Stage 3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27AE60"/>
                          </a:solidFill>
                          <a:latin typeface="Calibri"/>
                        </a:rPr>
                        <a:t>Spring Boot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 tIns="38100"/>
                    <a:lstStyle/>
                    <a:p>
                      <a:pPr algn="ctr"/>
                      <a:r>
                        <a:rPr sz="1200" b="1">
                          <a:solidFill>
                            <a:srgbClr val="2980B9"/>
                          </a:solidFill>
                          <a:latin typeface="Calibri"/>
                        </a:rPr>
                        <a:t>Stage 4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2980B9"/>
                          </a:solidFill>
                          <a:latin typeface="Calibri"/>
                        </a:rPr>
                        <a:t>Cloud-Native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 tIns="38100"/>
                    <a:lstStyle/>
                    <a:p>
                      <a:pPr algn="ctr"/>
                      <a:r>
                        <a:rPr sz="1200" b="1">
                          <a:solidFill>
                            <a:srgbClr val="8E44AD"/>
                          </a:solidFill>
                          <a:latin typeface="Calibri"/>
                        </a:rPr>
                        <a:t>Stage 5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8E44AD"/>
                          </a:solidFill>
                          <a:latin typeface="Calibri"/>
                        </a:rPr>
                        <a:t>DevOps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1046073"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1">
                          <a:solidFill>
                            <a:srgbClr val="1B2A4A"/>
                          </a:solidFill>
                          <a:latin typeface="Calibri"/>
                        </a:rPr>
                        <a:t>Dependency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1B2A4A"/>
                          </a:solidFill>
                          <a:latin typeface="Calibri"/>
                        </a:rPr>
                        <a:t>Mgmt</a:t>
                      </a:r>
                    </a:p>
                  </a:txBody>
                  <a:tcPr>
                    <a:solidFill>
                      <a:srgbClr val="EEF0F5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  <a:latin typeface="Calibri"/>
                        </a:rPr>
                        <a:t>None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  <a:latin typeface="Calibri"/>
                        </a:rPr>
                        <a:t>Static state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F39C12"/>
                          </a:solidFill>
                          <a:latin typeface="Calibri"/>
                        </a:rPr>
                        <a:t>Manual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F39C12"/>
                          </a:solidFill>
                          <a:latin typeface="Calibri"/>
                        </a:rPr>
                        <a:t>constructor DI</a:t>
                      </a:r>
                    </a:p>
                  </a:txBody>
                  <a:tcPr>
                    <a:solidFill>
                      <a:srgbClr val="FFF8E8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  <a:latin typeface="Calibri"/>
                        </a:rPr>
                        <a:t>Auto IoC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  <a:latin typeface="Calibri"/>
                        </a:rPr>
                        <a:t>container</a:t>
                      </a:r>
                    </a:p>
                  </a:txBody>
                  <a:tcPr>
                    <a:solidFill>
                      <a:srgbClr val="EAF7EE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  <a:latin typeface="Calibri"/>
                        </a:rPr>
                        <a:t>Auto IoC +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  <a:latin typeface="Calibri"/>
                        </a:rPr>
                        <a:t>JPA + Liquibase</a:t>
                      </a:r>
                    </a:p>
                  </a:txBody>
                  <a:tcPr>
                    <a:solidFill>
                      <a:srgbClr val="E8F4FB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8E44AD"/>
                          </a:solidFill>
                          <a:latin typeface="Calibri"/>
                        </a:rPr>
                        <a:t>Auto IoC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8E44AD"/>
                          </a:solidFill>
                          <a:latin typeface="Calibri"/>
                        </a:rPr>
                        <a:t>+ CI/CD</a:t>
                      </a:r>
                    </a:p>
                  </a:txBody>
                  <a:tcPr>
                    <a:solidFill>
                      <a:srgbClr val="F5EAFB"/>
                    </a:solidFill>
                  </a:tcPr>
                </a:tc>
              </a:tr>
              <a:tr h="1046073"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1">
                          <a:solidFill>
                            <a:srgbClr val="1B2A4A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>
                    <a:solidFill>
                      <a:srgbClr val="EEF0F5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  <a:latin typeface="Calibri"/>
                        </a:rPr>
                        <a:t>Untestable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F39C12"/>
                          </a:solidFill>
                          <a:latin typeface="Calibri"/>
                        </a:rPr>
                        <a:t>JUnit 5 +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F39C12"/>
                          </a:solidFill>
                          <a:latin typeface="Calibri"/>
                        </a:rPr>
                        <a:t>Mockito (ms)</a:t>
                      </a:r>
                    </a:p>
                  </a:txBody>
                  <a:tcPr>
                    <a:solidFill>
                      <a:srgbClr val="FFF8E8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  <a:latin typeface="Calibri"/>
                        </a:rPr>
                        <a:t>Fast unit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>
                    <a:solidFill>
                      <a:srgbClr val="EAF7EE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  <a:latin typeface="Calibri"/>
                        </a:rPr>
                        <a:t>Unit + Spring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  <a:latin typeface="Calibri"/>
                        </a:rPr>
                        <a:t>Integration</a:t>
                      </a:r>
                    </a:p>
                  </a:txBody>
                  <a:tcPr>
                    <a:solidFill>
                      <a:srgbClr val="E8F4FB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8E44AD"/>
                          </a:solidFill>
                          <a:latin typeface="Calibri"/>
                        </a:rPr>
                        <a:t>Unit + MockMvc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8E44AD"/>
                          </a:solidFill>
                          <a:latin typeface="Calibri"/>
                        </a:rPr>
                        <a:t>+ CI gate</a:t>
                      </a:r>
                    </a:p>
                  </a:txBody>
                  <a:tcPr>
                    <a:solidFill>
                      <a:srgbClr val="F5EAFB"/>
                    </a:solidFill>
                  </a:tcPr>
                </a:tc>
              </a:tr>
              <a:tr h="1046073"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1">
                          <a:solidFill>
                            <a:srgbClr val="1B2A4A"/>
                          </a:solidFill>
                          <a:latin typeface="Calibri"/>
                        </a:rPr>
                        <a:t>Delivery</a:t>
                      </a:r>
                    </a:p>
                  </a:txBody>
                  <a:tcPr>
                    <a:solidFill>
                      <a:srgbClr val="EEF0F5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  <a:latin typeface="Calibri"/>
                        </a:rPr>
                        <a:t>Console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  <a:latin typeface="Calibri"/>
                        </a:rPr>
                        <a:t>hardcoded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F39C12"/>
                          </a:solidFill>
                          <a:latin typeface="Calibri"/>
                        </a:rPr>
                        <a:t>Console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F39C12"/>
                          </a:solidFill>
                          <a:latin typeface="Calibri"/>
                        </a:rPr>
                        <a:t>controller</a:t>
                      </a:r>
                    </a:p>
                  </a:txBody>
                  <a:tcPr>
                    <a:solidFill>
                      <a:srgbClr val="FFF8E8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  <a:latin typeface="Calibri"/>
                        </a:rPr>
                        <a:t>Console or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  <a:latin typeface="Calibri"/>
                        </a:rPr>
                        <a:t>HTTP REST</a:t>
                      </a:r>
                    </a:p>
                  </a:txBody>
                  <a:tcPr>
                    <a:solidFill>
                      <a:srgbClr val="EAF7EE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  <a:latin typeface="Calibri"/>
                        </a:rPr>
                        <a:t>Thymeleaf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  <a:latin typeface="Calibri"/>
                        </a:rPr>
                        <a:t>Web UI + REST</a:t>
                      </a:r>
                    </a:p>
                  </a:txBody>
                  <a:tcPr>
                    <a:solidFill>
                      <a:srgbClr val="E8F4FB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8E44AD"/>
                          </a:solidFill>
                          <a:latin typeface="Calibri"/>
                        </a:rPr>
                        <a:t>REST + Docker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8E44AD"/>
                          </a:solidFill>
                          <a:latin typeface="Calibri"/>
                        </a:rPr>
                        <a:t>+ K8s</a:t>
                      </a:r>
                    </a:p>
                  </a:txBody>
                  <a:tcPr>
                    <a:solidFill>
                      <a:srgbClr val="F5EAFB"/>
                    </a:solidFill>
                  </a:tcPr>
                </a:tc>
              </a:tr>
              <a:tr h="1046076"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1">
                          <a:solidFill>
                            <a:srgbClr val="1B2A4A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>
                    <a:solidFill>
                      <a:srgbClr val="EEF0F5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  <a:latin typeface="Calibri"/>
                        </a:rPr>
                        <a:t>Host JDK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  <a:latin typeface="Calibri"/>
                        </a:rPr>
                        <a:t>required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F39C12"/>
                          </a:solidFill>
                          <a:latin typeface="Calibri"/>
                        </a:rPr>
                        <a:t>Local JAR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F39C12"/>
                          </a:solidFill>
                          <a:latin typeface="Calibri"/>
                        </a:rPr>
                        <a:t>target/</a:t>
                      </a:r>
                    </a:p>
                  </a:txBody>
                  <a:tcPr>
                    <a:solidFill>
                      <a:srgbClr val="FFF8E8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  <a:latin typeface="Calibri"/>
                        </a:rPr>
                        <a:t>Multi-stage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  <a:latin typeface="Calibri"/>
                        </a:rPr>
                        <a:t>Docker JRE</a:t>
                      </a:r>
                    </a:p>
                  </a:txBody>
                  <a:tcPr>
                    <a:solidFill>
                      <a:srgbClr val="EAF7EE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  <a:latin typeface="Calibri"/>
                        </a:rPr>
                        <a:t>JAR + Docker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  <a:latin typeface="Calibri"/>
                        </a:rPr>
                        <a:t>+ K8s</a:t>
                      </a:r>
                    </a:p>
                  </a:txBody>
                  <a:tcPr>
                    <a:solidFill>
                      <a:srgbClr val="E8F4FB"/>
                    </a:solidFill>
                  </a:tcPr>
                </a:tc>
                <a:tc>
                  <a:txBody>
                    <a:bodyPr lIns="63500" tIns="38100"/>
                    <a:lstStyle/>
                    <a:p>
                      <a:pPr algn="ctr"/>
                      <a:r>
                        <a:rPr sz="1200" b="0">
                          <a:solidFill>
                            <a:srgbClr val="8E44AD"/>
                          </a:solidFill>
                          <a:latin typeface="Calibri"/>
                        </a:rPr>
                        <a:t>GitHub Actions</a:t>
                      </a:r>
                    </a:p>
                    <a:p>
                      <a:pPr algn="ctr"/>
                      <a:r>
                        <a:rPr sz="1200" b="0">
                          <a:solidFill>
                            <a:srgbClr val="8E44AD"/>
                          </a:solidFill>
                          <a:latin typeface="Calibri"/>
                        </a:rPr>
                        <a:t>CI + cloud</a:t>
                      </a:r>
                    </a:p>
                  </a:txBody>
                  <a:tcPr>
                    <a:solidFill>
                      <a:srgbClr val="F5EA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B2A4A"/>
                </a:solidFill>
                <a:latin typeface="Calibri"/>
              </a:rPr>
              <a:t>Interview Defense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23544"/>
            <a:ext cx="110916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  <a:latin typeface="Calibri"/>
              </a:rPr>
              <a:t>Translate your work into the language engineering teams recognise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50392"/>
            <a:ext cx="11091672" cy="411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35024"/>
            <a:ext cx="5394960" cy="5230368"/>
          </a:xfrm>
          <a:prstGeom prst="rect">
            <a:avLst/>
          </a:prstGeom>
          <a:solidFill>
            <a:srgbClr val="EE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4444"/>
                </a:solidFill>
                <a:latin typeface="Calibri"/>
              </a:rPr>
              <a:t>Student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5029200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"I split it into layers to make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it cleaner."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"I added tests so I know it works."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"I used Spring because it makes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  things easier."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"I used Docker so it runs everywhere."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"I used Liquibase for the database."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1B2A4A"/>
                </a:solidFill>
                <a:latin typeface="Calibri"/>
              </a:rPr>
              <a:t>"I deployed it with Kubernetes."</a:t>
            </a:r>
          </a:p>
        </p:txBody>
      </p:sp>
      <p:sp>
        <p:nvSpPr>
          <p:cNvPr id="9" name="Rectangle 8"/>
          <p:cNvSpPr/>
          <p:nvPr/>
        </p:nvSpPr>
        <p:spPr>
          <a:xfrm>
            <a:off x="6336792" y="1335024"/>
            <a:ext cx="5394960" cy="5230368"/>
          </a:xfrm>
          <a:prstGeom prst="rect">
            <a:avLst/>
          </a:prstGeom>
          <a:solidFill>
            <a:srgbClr val="E6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1426464"/>
            <a:ext cx="5029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  <a:latin typeface="Calibri"/>
              </a:rPr>
              <a:t>Industry-Ready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1847088"/>
            <a:ext cx="5029200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"Each layer has one reason to change.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Schema changes never touch the service."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"verifyNoInteractions(store) proves the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guard fires before the database is touched."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"Spring eliminates manual object graphs.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Adding starter-web costs zero service changes."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"Builder JDK never enters the runtime image.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Non-root JRE satisfies cloud security baselines."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"Liquibase changesets are idempotent — tracked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in DATABASECHANGELOG, never re-run."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"K8s liveness probes auto-restart unhealthy pods.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B2A4A"/>
                </a:solidFill>
                <a:latin typeface="Calibri"/>
              </a:rPr>
              <a:t>  Zero human intervention."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601968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B4D8"/>
                </a:solidFill>
                <a:latin typeface="Calibri"/>
              </a:rPr>
              <a:t>The right column demonstrates systems thinking. That is what engineering-led companies hire for.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